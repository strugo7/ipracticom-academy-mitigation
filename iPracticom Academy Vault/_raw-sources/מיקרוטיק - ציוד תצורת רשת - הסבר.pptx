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jhoEjtewjnPhJ10fBYBJEYY/9B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888888"/>
                </a:solidFill>
                <a:latin typeface="Calibri"/>
                <a:ea typeface="Calibri"/>
                <a:cs typeface="Calibri"/>
                <a:sym typeface="Calibri"/>
              </a:defRPr>
            </a:lvl1pPr>
            <a:lvl2pPr indent="0" lvl="1" marL="0" marR="0" rtl="0" algn="l">
              <a:spcBef>
                <a:spcPts val="0"/>
              </a:spcBef>
              <a:buNone/>
              <a:defRPr b="0" i="0" sz="1200" u="none" cap="none" strike="noStrike">
                <a:solidFill>
                  <a:srgbClr val="888888"/>
                </a:solidFill>
                <a:latin typeface="Calibri"/>
                <a:ea typeface="Calibri"/>
                <a:cs typeface="Calibri"/>
                <a:sym typeface="Calibri"/>
              </a:defRPr>
            </a:lvl2pPr>
            <a:lvl3pPr indent="0" lvl="2" marL="0" marR="0" rtl="0" algn="l">
              <a:spcBef>
                <a:spcPts val="0"/>
              </a:spcBef>
              <a:buNone/>
              <a:defRPr b="0" i="0" sz="1200" u="none" cap="none" strike="noStrike">
                <a:solidFill>
                  <a:srgbClr val="888888"/>
                </a:solidFill>
                <a:latin typeface="Calibri"/>
                <a:ea typeface="Calibri"/>
                <a:cs typeface="Calibri"/>
                <a:sym typeface="Calibri"/>
              </a:defRPr>
            </a:lvl3pPr>
            <a:lvl4pPr indent="0" lvl="3" marL="0" marR="0" rtl="0" algn="l">
              <a:spcBef>
                <a:spcPts val="0"/>
              </a:spcBef>
              <a:buNone/>
              <a:defRPr b="0" i="0" sz="1200" u="none" cap="none" strike="noStrike">
                <a:solidFill>
                  <a:srgbClr val="888888"/>
                </a:solidFill>
                <a:latin typeface="Calibri"/>
                <a:ea typeface="Calibri"/>
                <a:cs typeface="Calibri"/>
                <a:sym typeface="Calibri"/>
              </a:defRPr>
            </a:lvl4pPr>
            <a:lvl5pPr indent="0" lvl="4" marL="0" marR="0" rtl="0" algn="l">
              <a:spcBef>
                <a:spcPts val="0"/>
              </a:spcBef>
              <a:buNone/>
              <a:defRPr b="0" i="0" sz="1200" u="none" cap="none" strike="noStrike">
                <a:solidFill>
                  <a:srgbClr val="888888"/>
                </a:solidFill>
                <a:latin typeface="Calibri"/>
                <a:ea typeface="Calibri"/>
                <a:cs typeface="Calibri"/>
                <a:sym typeface="Calibri"/>
              </a:defRPr>
            </a:lvl5pPr>
            <a:lvl6pPr indent="0" lvl="5" marL="0" marR="0" rtl="0" algn="l">
              <a:spcBef>
                <a:spcPts val="0"/>
              </a:spcBef>
              <a:buNone/>
              <a:defRPr b="0" i="0" sz="1200" u="none" cap="none" strike="noStrike">
                <a:solidFill>
                  <a:srgbClr val="888888"/>
                </a:solidFill>
                <a:latin typeface="Calibri"/>
                <a:ea typeface="Calibri"/>
                <a:cs typeface="Calibri"/>
                <a:sym typeface="Calibri"/>
              </a:defRPr>
            </a:lvl6pPr>
            <a:lvl7pPr indent="0" lvl="6" marL="0" marR="0" rtl="0" algn="l">
              <a:spcBef>
                <a:spcPts val="0"/>
              </a:spcBef>
              <a:buNone/>
              <a:defRPr b="0" i="0" sz="1200" u="none" cap="none" strike="noStrike">
                <a:solidFill>
                  <a:srgbClr val="888888"/>
                </a:solidFill>
                <a:latin typeface="Calibri"/>
                <a:ea typeface="Calibri"/>
                <a:cs typeface="Calibri"/>
                <a:sym typeface="Calibri"/>
              </a:defRPr>
            </a:lvl7pPr>
            <a:lvl8pPr indent="0" lvl="7" marL="0" marR="0" rtl="0" algn="l">
              <a:spcBef>
                <a:spcPts val="0"/>
              </a:spcBef>
              <a:buNone/>
              <a:defRPr b="0" i="0" sz="1200" u="none" cap="none" strike="noStrike">
                <a:solidFill>
                  <a:srgbClr val="888888"/>
                </a:solidFill>
                <a:latin typeface="Calibri"/>
                <a:ea typeface="Calibri"/>
                <a:cs typeface="Calibri"/>
                <a:sym typeface="Calibri"/>
              </a:defRPr>
            </a:lvl8pPr>
            <a:lvl9pPr indent="0" lvl="8" marL="0" marR="0" rtl="0" algn="l">
              <a:spcBef>
                <a:spcPts val="0"/>
              </a:spcBef>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mt.lv/winbox64"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39817" y="143877"/>
            <a:ext cx="11761500" cy="2940000"/>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i="0" lang="iw-IL" sz="2300" u="none" cap="none" strike="noStrike">
                <a:solidFill>
                  <a:srgbClr val="000000"/>
                </a:solidFill>
                <a:latin typeface="Arial"/>
                <a:ea typeface="Arial"/>
                <a:cs typeface="Arial"/>
                <a:sym typeface="Arial"/>
              </a:rPr>
              <a:t>הסבר - MikroTik</a:t>
            </a:r>
            <a:endParaRPr b="0" i="0" sz="2300" u="none" cap="none" strike="noStrike">
              <a:solidFill>
                <a:schemeClr val="dk1"/>
              </a:solidFill>
              <a:latin typeface="Calibri"/>
              <a:ea typeface="Calibri"/>
              <a:cs typeface="Calibri"/>
              <a:sym typeface="Calibri"/>
            </a:endParaRPr>
          </a:p>
          <a:p>
            <a:pPr indent="0" lvl="0" marL="0" marR="0" rtl="1" algn="ctr">
              <a:spcBef>
                <a:spcPts val="0"/>
              </a:spcBef>
              <a:spcAft>
                <a:spcPts val="0"/>
              </a:spcAft>
              <a:buNone/>
            </a:pPr>
            <a:br>
              <a:rPr b="0" i="0" lang="iw-IL" sz="1800" u="none" cap="none" strike="noStrike">
                <a:solidFill>
                  <a:schemeClr val="dk1"/>
                </a:solidFill>
                <a:latin typeface="Calibri"/>
                <a:ea typeface="Calibri"/>
                <a:cs typeface="Calibri"/>
                <a:sym typeface="Calibri"/>
              </a:rPr>
            </a:br>
            <a:br>
              <a:rPr b="0" i="0" lang="iw-IL" sz="1800" u="none" cap="none" strike="noStrike">
                <a:solidFill>
                  <a:schemeClr val="dk1"/>
                </a:solidFill>
                <a:latin typeface="Calibri"/>
                <a:ea typeface="Calibri"/>
                <a:cs typeface="Calibri"/>
                <a:sym typeface="Calibri"/>
              </a:rPr>
            </a:br>
            <a:r>
              <a:rPr b="0" i="0" lang="iw-IL" sz="1800" u="none" cap="none" strike="noStrike">
                <a:solidFill>
                  <a:srgbClr val="000000"/>
                </a:solidFill>
                <a:latin typeface="Arial"/>
                <a:ea typeface="Arial"/>
                <a:cs typeface="Arial"/>
                <a:sym typeface="Arial"/>
              </a:rPr>
              <a:t>MikroTik  הינה חברת תקשורת אירופאית המפתחת נתבים וציודי תקשורת תחת המותג RouterBoard</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iw-IL" sz="1800" u="none" cap="none" strike="noStrike">
                <a:solidFill>
                  <a:srgbClr val="000000"/>
                </a:solidFill>
                <a:latin typeface="Arial"/>
                <a:ea typeface="Arial"/>
                <a:cs typeface="Arial"/>
                <a:sym typeface="Arial"/>
              </a:rPr>
              <a:t>מוצרי החברה מספקים איכות גבוהה, מגוון מאפיינים עצום ומחיר יחסי נמוך מול שאר המתחרים בעולם הרשתות.</a:t>
            </a:r>
            <a:endParaRPr b="0" i="0" sz="1800" u="none" cap="none" strike="noStrike">
              <a:solidFill>
                <a:schemeClr val="dk1"/>
              </a:solidFill>
              <a:latin typeface="Calibri"/>
              <a:ea typeface="Calibri"/>
              <a:cs typeface="Calibri"/>
              <a:sym typeface="Calibri"/>
            </a:endParaRPr>
          </a:p>
          <a:p>
            <a:pPr indent="0" lvl="0" marL="0" marR="0" rtl="1" algn="ctr">
              <a:spcBef>
                <a:spcPts val="0"/>
              </a:spcBef>
              <a:spcAft>
                <a:spcPts val="0"/>
              </a:spcAft>
              <a:buNone/>
            </a:pPr>
            <a:br>
              <a:rPr b="0" i="0" lang="iw-IL" sz="1800" u="none" cap="none" strike="noStrike">
                <a:solidFill>
                  <a:schemeClr val="dk1"/>
                </a:solidFill>
                <a:latin typeface="Calibri"/>
                <a:ea typeface="Calibri"/>
                <a:cs typeface="Calibri"/>
                <a:sym typeface="Calibri"/>
              </a:rPr>
            </a:br>
            <a:r>
              <a:rPr b="0" i="0" lang="iw-IL" sz="1800" u="none" cap="none" strike="noStrike">
                <a:solidFill>
                  <a:srgbClr val="000000"/>
                </a:solidFill>
                <a:latin typeface="Arial"/>
                <a:ea typeface="Arial"/>
                <a:cs typeface="Arial"/>
                <a:sym typeface="Arial"/>
              </a:rPr>
              <a:t>ראוטר ה MikroTik שאנו בח</a:t>
            </a:r>
            <a:r>
              <a:rPr lang="iw-IL" sz="1800"/>
              <a:t>ב</a:t>
            </a:r>
            <a:r>
              <a:rPr b="0" i="0" lang="iw-IL" sz="1800" u="none" cap="none" strike="noStrike">
                <a:solidFill>
                  <a:srgbClr val="000000"/>
                </a:solidFill>
                <a:latin typeface="Arial"/>
                <a:ea typeface="Arial"/>
                <a:cs typeface="Arial"/>
                <a:sym typeface="Arial"/>
              </a:rPr>
              <a:t>רת אייפרקטיקום משתמשים בו מצויד במערכת הפעלה הנקראת RouterOS,</a:t>
            </a:r>
            <a:endParaRPr b="0" i="0" sz="1800" u="none" cap="none" strike="noStrike">
              <a:solidFill>
                <a:schemeClr val="dk1"/>
              </a:solidFill>
              <a:latin typeface="Calibri"/>
              <a:ea typeface="Calibri"/>
              <a:cs typeface="Calibri"/>
              <a:sym typeface="Calibri"/>
            </a:endParaRPr>
          </a:p>
          <a:p>
            <a:pPr indent="0" lvl="0" marL="0" marR="0" rtl="1" algn="ctr">
              <a:spcBef>
                <a:spcPts val="0"/>
              </a:spcBef>
              <a:spcAft>
                <a:spcPts val="0"/>
              </a:spcAft>
              <a:buNone/>
            </a:pPr>
            <a:r>
              <a:rPr b="0" i="0" lang="iw-IL" sz="1800" u="none" cap="none" strike="noStrike">
                <a:solidFill>
                  <a:srgbClr val="000000"/>
                </a:solidFill>
                <a:latin typeface="Arial"/>
                <a:ea typeface="Arial"/>
                <a:cs typeface="Arial"/>
                <a:sym typeface="Arial"/>
              </a:rPr>
              <a:t>ובאופן כללי - כל מוצרי חברת מיקרוטיק מרמת הנתב, מתגים, סוויצ'ים ועד רמת נקודות גישה (AP)</a:t>
            </a:r>
            <a:endParaRPr b="0" i="0" sz="1800" u="none" cap="none" strike="noStrike">
              <a:solidFill>
                <a:srgbClr val="000000"/>
              </a:solidFill>
              <a:latin typeface="Arial"/>
              <a:ea typeface="Arial"/>
              <a:cs typeface="Arial"/>
              <a:sym typeface="Arial"/>
            </a:endParaRPr>
          </a:p>
          <a:p>
            <a:pPr indent="0" lvl="0" marL="0" marR="0" rtl="1" algn="ctr">
              <a:spcBef>
                <a:spcPts val="0"/>
              </a:spcBef>
              <a:spcAft>
                <a:spcPts val="0"/>
              </a:spcAft>
              <a:buNone/>
            </a:pPr>
            <a:r>
              <a:rPr b="0" i="0" lang="iw-IL" sz="1800" u="none" cap="none" strike="noStrike">
                <a:solidFill>
                  <a:srgbClr val="000000"/>
                </a:solidFill>
                <a:latin typeface="Arial"/>
                <a:ea typeface="Arial"/>
                <a:cs typeface="Arial"/>
                <a:sym typeface="Arial"/>
              </a:rPr>
              <a:t>מופעלים בעזרת אותה מערכת הפעלה עם אותם פיצ'רים. השוני ביניהם הוא אופי תפקידם ברשת וחוזקת החומרה מבחינת ביצועי המוצר בלבד. </a:t>
            </a:r>
            <a:endParaRPr b="0" i="0" sz="1800" u="none" cap="none" strike="noStrike">
              <a:solidFill>
                <a:schemeClr val="dk1"/>
              </a:solidFill>
              <a:latin typeface="Calibri"/>
              <a:ea typeface="Calibri"/>
              <a:cs typeface="Calibri"/>
              <a:sym typeface="Calibri"/>
            </a:endParaRPr>
          </a:p>
        </p:txBody>
      </p:sp>
      <p:pic>
        <p:nvPicPr>
          <p:cNvPr descr="Graphical user interface&#10;&#10;Description automatically generated" id="85" name="Google Shape;85;p1"/>
          <p:cNvPicPr preferRelativeResize="0"/>
          <p:nvPr/>
        </p:nvPicPr>
        <p:blipFill rotWithShape="1">
          <a:blip r:embed="rId3">
            <a:alphaModFix/>
          </a:blip>
          <a:srcRect b="0" l="0" r="0" t="0"/>
          <a:stretch/>
        </p:blipFill>
        <p:spPr>
          <a:xfrm>
            <a:off x="-363405" y="3529963"/>
            <a:ext cx="12767807" cy="280482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6960854" y="3741490"/>
            <a:ext cx="2476362" cy="3116510"/>
          </a:xfrm>
          <a:prstGeom prst="rect">
            <a:avLst/>
          </a:prstGeom>
          <a:noFill/>
          <a:ln>
            <a:noFill/>
          </a:ln>
        </p:spPr>
      </p:pic>
      <p:sp>
        <p:nvSpPr>
          <p:cNvPr id="91" name="Google Shape;91;p2"/>
          <p:cNvSpPr txBox="1"/>
          <p:nvPr/>
        </p:nvSpPr>
        <p:spPr>
          <a:xfrm>
            <a:off x="125834" y="190261"/>
            <a:ext cx="11943127" cy="4601260"/>
          </a:xfrm>
          <a:prstGeom prst="rect">
            <a:avLst/>
          </a:prstGeom>
          <a:noFill/>
          <a:ln>
            <a:noFill/>
          </a:ln>
        </p:spPr>
        <p:txBody>
          <a:bodyPr anchorCtr="0" anchor="t" bIns="45700" lIns="91425" spcFirstLastPara="1" rIns="91425" wrap="square" tIns="45700">
            <a:spAutoFit/>
          </a:bodyPr>
          <a:lstStyle/>
          <a:p>
            <a:pPr indent="0" lvl="0" marL="0" marR="1590675" rtl="1" algn="ctr">
              <a:spcBef>
                <a:spcPts val="0"/>
              </a:spcBef>
              <a:spcAft>
                <a:spcPts val="0"/>
              </a:spcAft>
              <a:buNone/>
            </a:pPr>
            <a:r>
              <a:rPr b="1" i="0" lang="iw-IL" sz="2300" u="none" cap="none" strike="noStrike">
                <a:solidFill>
                  <a:srgbClr val="000000"/>
                </a:solidFill>
                <a:latin typeface="Arial"/>
                <a:ea typeface="Arial"/>
                <a:cs typeface="Arial"/>
                <a:sym typeface="Arial"/>
              </a:rPr>
              <a:t>                       סוגי המוצרים ותפקידם - תצורת אייפרקטיקום</a:t>
            </a:r>
            <a:endParaRPr b="1" i="0" sz="2300" u="none" cap="none" strike="noStrike">
              <a:solidFill>
                <a:srgbClr val="000000"/>
              </a:solidFill>
              <a:latin typeface="Arial"/>
              <a:ea typeface="Arial"/>
              <a:cs typeface="Arial"/>
              <a:sym typeface="Arial"/>
            </a:endParaRPr>
          </a:p>
          <a:p>
            <a:pPr indent="0" lvl="0" marL="0" marR="1590675" rtl="1" algn="r">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1594041" rtl="1" algn="r">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marR="1594041" rtl="1" algn="r">
              <a:spcBef>
                <a:spcPts val="0"/>
              </a:spcBef>
              <a:spcAft>
                <a:spcPts val="0"/>
              </a:spcAft>
              <a:buNone/>
            </a:pPr>
            <a:r>
              <a:rPr b="1" i="0" lang="iw-IL" sz="1800" u="none" cap="none" strike="noStrike">
                <a:solidFill>
                  <a:srgbClr val="000000"/>
                </a:solidFill>
                <a:latin typeface="Arial"/>
                <a:ea typeface="Arial"/>
                <a:cs typeface="Arial"/>
                <a:sym typeface="Arial"/>
              </a:rPr>
              <a:t>מוצר : MikroTik</a:t>
            </a:r>
            <a:r>
              <a:rPr b="0" i="0" lang="iw-IL" sz="1800" u="none" cap="none" strike="noStrike">
                <a:solidFill>
                  <a:srgbClr val="000000"/>
                </a:solidFill>
                <a:latin typeface="Arial"/>
                <a:ea typeface="Arial"/>
                <a:cs typeface="Arial"/>
                <a:sym typeface="Arial"/>
              </a:rPr>
              <a:t> - </a:t>
            </a:r>
            <a:r>
              <a:rPr b="1" i="0" lang="iw-IL" sz="1800" u="none" cap="none" strike="noStrike">
                <a:solidFill>
                  <a:srgbClr val="000000"/>
                </a:solidFill>
                <a:latin typeface="Arial"/>
                <a:ea typeface="Arial"/>
                <a:cs typeface="Arial"/>
                <a:sym typeface="Arial"/>
              </a:rPr>
              <a:t>hAP ac²</a:t>
            </a:r>
            <a:endParaRPr b="0" i="0" sz="1800" u="none" cap="none" strike="noStrike">
              <a:solidFill>
                <a:schemeClr val="dk1"/>
              </a:solidFill>
              <a:latin typeface="Calibri"/>
              <a:ea typeface="Calibri"/>
              <a:cs typeface="Calibri"/>
              <a:sym typeface="Calibri"/>
            </a:endParaRPr>
          </a:p>
          <a:p>
            <a:pPr indent="0" lvl="0" marL="0" marR="0" rtl="0" algn="r">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r">
              <a:spcBef>
                <a:spcPts val="0"/>
              </a:spcBef>
              <a:spcAft>
                <a:spcPts val="0"/>
              </a:spcAft>
              <a:buNone/>
            </a:pPr>
            <a:r>
              <a:rPr b="1" i="0" lang="iw-IL" sz="1800" u="none" cap="none" strike="noStrike">
                <a:solidFill>
                  <a:srgbClr val="000000"/>
                </a:solidFill>
                <a:latin typeface="Arial"/>
                <a:ea typeface="Arial"/>
                <a:cs typeface="Arial"/>
                <a:sym typeface="Arial"/>
              </a:rPr>
              <a:t>תיאור מוצר ויכולות: </a:t>
            </a:r>
            <a:endParaRPr b="1" i="0" sz="1800" u="none" cap="none" strike="noStrike">
              <a:solidFill>
                <a:srgbClr val="000000"/>
              </a:solidFill>
              <a:latin typeface="Arial"/>
              <a:ea typeface="Arial"/>
              <a:cs typeface="Arial"/>
              <a:sym typeface="Arial"/>
            </a:endParaRPr>
          </a:p>
          <a:p>
            <a:pPr indent="0" lvl="0" marL="0" marR="1590675" rtl="1" algn="r">
              <a:spcBef>
                <a:spcPts val="0"/>
              </a:spcBef>
              <a:spcAft>
                <a:spcPts val="0"/>
              </a:spcAft>
              <a:buNone/>
            </a:pPr>
            <a:r>
              <a:rPr b="1" i="0" lang="iw-IL" sz="1800" u="none" cap="none" strike="noStrike">
                <a:solidFill>
                  <a:srgbClr val="000000"/>
                </a:solidFill>
                <a:latin typeface="Arial"/>
                <a:ea typeface="Arial"/>
                <a:cs typeface="Arial"/>
                <a:sym typeface="Arial"/>
              </a:rPr>
              <a:t> </a:t>
            </a:r>
            <a:r>
              <a:rPr b="0" i="0" lang="iw-IL" sz="1800" u="none" cap="none" strike="noStrike">
                <a:solidFill>
                  <a:srgbClr val="000000"/>
                </a:solidFill>
                <a:latin typeface="Arial"/>
                <a:ea typeface="Arial"/>
                <a:cs typeface="Arial"/>
                <a:sym typeface="Arial"/>
              </a:rPr>
              <a:t>hAP ac</a:t>
            </a:r>
            <a:r>
              <a:rPr b="1" i="0" lang="iw-IL" sz="1800" u="none" cap="none" strike="noStrike">
                <a:solidFill>
                  <a:srgbClr val="000000"/>
                </a:solidFill>
                <a:latin typeface="Arial"/>
                <a:ea typeface="Arial"/>
                <a:cs typeface="Arial"/>
                <a:sym typeface="Arial"/>
              </a:rPr>
              <a:t>²</a:t>
            </a:r>
            <a:r>
              <a:rPr b="0" i="0" lang="iw-IL" sz="1800" u="none" cap="none" strike="noStrike">
                <a:solidFill>
                  <a:srgbClr val="000000"/>
                </a:solidFill>
                <a:latin typeface="Arial"/>
                <a:ea typeface="Arial"/>
                <a:cs typeface="Arial"/>
                <a:sym typeface="Arial"/>
              </a:rPr>
              <a:t>הוא ראוטר הכולל 5 יציאות רשת המספקות חיבור של עד 1 ג'יגה ביט גלישה. דגם זה יודע לספק גם רשתות WIFI בתקנים של  2.4 / 5GHz.  למוצר זה קיים מעמד המאפשר למקם את היחידה בצורה אופקית / אנכית. </a:t>
            </a:r>
            <a:endParaRPr b="0" i="0" sz="1800" u="none" cap="none" strike="noStrike">
              <a:solidFill>
                <a:schemeClr val="dk1"/>
              </a:solidFill>
              <a:latin typeface="Calibri"/>
              <a:ea typeface="Calibri"/>
              <a:cs typeface="Calibri"/>
              <a:sym typeface="Calibri"/>
            </a:endParaRPr>
          </a:p>
          <a:p>
            <a:pPr indent="0" lvl="0" marL="0" marR="0" rtl="0" algn="r">
              <a:spcBef>
                <a:spcPts val="0"/>
              </a:spcBef>
              <a:spcAft>
                <a:spcPts val="0"/>
              </a:spcAft>
              <a:buNone/>
            </a:pPr>
            <a:br>
              <a:rPr b="0" i="0" lang="iw-IL" sz="1800" u="none" cap="none" strike="noStrike">
                <a:solidFill>
                  <a:schemeClr val="dk1"/>
                </a:solidFill>
                <a:latin typeface="Calibri"/>
                <a:ea typeface="Calibri"/>
                <a:cs typeface="Calibri"/>
                <a:sym typeface="Calibri"/>
              </a:rPr>
            </a:br>
            <a:r>
              <a:rPr b="1" i="0" lang="iw-IL" sz="1800" u="none" cap="none" strike="noStrike">
                <a:solidFill>
                  <a:srgbClr val="000000"/>
                </a:solidFill>
                <a:latin typeface="Arial"/>
                <a:ea typeface="Arial"/>
                <a:cs typeface="Arial"/>
                <a:sym typeface="Arial"/>
              </a:rPr>
              <a:t>תצורת אייפרקטיקום ותפקיד הרכיב:</a:t>
            </a:r>
            <a:endParaRPr/>
          </a:p>
          <a:p>
            <a:pPr indent="0" lvl="0" marL="0" marR="1594041" rtl="1" algn="r">
              <a:spcBef>
                <a:spcPts val="0"/>
              </a:spcBef>
              <a:spcAft>
                <a:spcPts val="0"/>
              </a:spcAft>
              <a:buNone/>
            </a:pPr>
            <a:r>
              <a:rPr b="0" i="0" lang="iw-IL" sz="1800" u="none" cap="none" strike="noStrike">
                <a:solidFill>
                  <a:srgbClr val="000000"/>
                </a:solidFill>
                <a:latin typeface="Arial"/>
                <a:ea typeface="Arial"/>
                <a:cs typeface="Arial"/>
                <a:sym typeface="Arial"/>
              </a:rPr>
              <a:t>באייפרקטיקום אנו משתמשים בראוטר זה כ-נתב המרכזי והראשי של רשת הלקוח, הוא אחראי על כל ניתוב המידע בעסק. בנתב זה אנו מגדירים מראש שתי חייגנים (wan1 + wan2) המבצעים ויוצרים אינטרנט על גבי שתי תשתיות המתחברות לנתב בצורה פיזית על ידי 2 מודמים בתצורת ברידג' שמחוברים בכבל רשת לציוד זה.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br>
              <a:rPr b="0" i="0" lang="iw-IL" sz="1800" u="none" cap="none" strike="noStrike">
                <a:solidFill>
                  <a:schemeClr val="dk1"/>
                </a:solidFill>
                <a:latin typeface="Calibri"/>
                <a:ea typeface="Calibri"/>
                <a:cs typeface="Calibri"/>
                <a:sym typeface="Calibri"/>
              </a:rPr>
            </a:br>
            <a:br>
              <a:rPr b="0" i="0" lang="iw-IL" sz="1800" u="none" cap="none" strike="noStrike">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p:txBody>
      </p:sp>
      <p:pic>
        <p:nvPicPr>
          <p:cNvPr descr="תמונה שמכילה אלקטרוניקה&#10;&#10;התיאור נוצר באופן אוטומטי" id="92" name="Google Shape;92;p2"/>
          <p:cNvPicPr preferRelativeResize="0"/>
          <p:nvPr/>
        </p:nvPicPr>
        <p:blipFill rotWithShape="1">
          <a:blip r:embed="rId4">
            <a:alphaModFix/>
          </a:blip>
          <a:srcRect b="0" l="0" r="0" t="0"/>
          <a:stretch/>
        </p:blipFill>
        <p:spPr>
          <a:xfrm>
            <a:off x="2844655" y="4700648"/>
            <a:ext cx="3940029" cy="19670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nvSpPr>
        <p:spPr>
          <a:xfrm>
            <a:off x="139817" y="226503"/>
            <a:ext cx="11912366" cy="4524315"/>
          </a:xfrm>
          <a:prstGeom prst="rect">
            <a:avLst/>
          </a:prstGeom>
          <a:noFill/>
          <a:ln>
            <a:noFill/>
          </a:ln>
        </p:spPr>
        <p:txBody>
          <a:bodyPr anchorCtr="0" anchor="t" bIns="45700" lIns="91425" spcFirstLastPara="1" rIns="91425" wrap="square" tIns="45700">
            <a:spAutoFit/>
          </a:bodyPr>
          <a:lstStyle/>
          <a:p>
            <a:pPr indent="0" lvl="0" marL="0" marR="1594041" rtl="1" algn="r">
              <a:spcBef>
                <a:spcPts val="0"/>
              </a:spcBef>
              <a:spcAft>
                <a:spcPts val="0"/>
              </a:spcAft>
              <a:buNone/>
            </a:pPr>
            <a:r>
              <a:rPr b="1" i="0" lang="iw-IL" sz="1800" u="none" strike="noStrike">
                <a:solidFill>
                  <a:srgbClr val="000000"/>
                </a:solidFill>
                <a:latin typeface="Arial"/>
                <a:ea typeface="Arial"/>
                <a:cs typeface="Arial"/>
                <a:sym typeface="Arial"/>
              </a:rPr>
              <a:t>מוצר : MikroTik wAP LTE kit</a:t>
            </a:r>
            <a:endParaRPr/>
          </a:p>
          <a:p>
            <a:pPr indent="0" lvl="0" marL="0" marR="1594041" rtl="1" algn="r">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r>
              <a:rPr b="1" i="0" lang="iw-IL" sz="1800" u="none" strike="noStrike">
                <a:solidFill>
                  <a:srgbClr val="000000"/>
                </a:solidFill>
                <a:latin typeface="Arial"/>
                <a:ea typeface="Arial"/>
                <a:cs typeface="Arial"/>
                <a:sym typeface="Arial"/>
              </a:rPr>
              <a:t>תיאור מוצר ויכולות: </a:t>
            </a:r>
            <a:endParaRPr b="1" i="0" sz="1800" u="none" strike="noStrike">
              <a:solidFill>
                <a:srgbClr val="000000"/>
              </a:solidFill>
              <a:latin typeface="Arial"/>
              <a:ea typeface="Arial"/>
              <a:cs typeface="Arial"/>
              <a:sym typeface="Arial"/>
            </a:endParaRPr>
          </a:p>
          <a:p>
            <a:pPr indent="0" lvl="0" marL="0" marR="1590675" rtl="1" algn="r">
              <a:spcBef>
                <a:spcPts val="0"/>
              </a:spcBef>
              <a:spcAft>
                <a:spcPts val="0"/>
              </a:spcAft>
              <a:buNone/>
            </a:pPr>
            <a:r>
              <a:rPr b="0" i="0" lang="iw-IL" sz="1800" u="none" strike="noStrike">
                <a:solidFill>
                  <a:srgbClr val="000000"/>
                </a:solidFill>
                <a:latin typeface="Arial"/>
                <a:ea typeface="Arial"/>
                <a:cs typeface="Arial"/>
                <a:sym typeface="Arial"/>
              </a:rPr>
              <a:t> MikroTik wAP LTE kit</a:t>
            </a: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הוא מודם סלולרי מובנה התומך בחיבור לרשתות סלולר על גבי סים ויודע לעבוד ברמת קישוריות של </a:t>
            </a:r>
            <a:r>
              <a:rPr lang="iw-IL" sz="1800">
                <a:solidFill>
                  <a:srgbClr val="000000"/>
                </a:solidFill>
                <a:latin typeface="Arial"/>
                <a:ea typeface="Arial"/>
                <a:cs typeface="Arial"/>
                <a:sym typeface="Arial"/>
              </a:rPr>
              <a:t>2G, 3G ו-4G. </a:t>
            </a:r>
            <a:r>
              <a:rPr b="0" i="0" lang="iw-IL" sz="1800" u="none" strike="noStrike">
                <a:solidFill>
                  <a:srgbClr val="000000"/>
                </a:solidFill>
                <a:latin typeface="Arial"/>
                <a:ea typeface="Arial"/>
                <a:cs typeface="Arial"/>
                <a:sym typeface="Arial"/>
              </a:rPr>
              <a:t>מוצר זה יודע לייצר רשת אלחוטית בתדר של 2.4  GHz בלבד ויודע להעביר עד 300  Mbit/s  בחיבור אלחוטי. מבחינת יציאות רשת לדגם זה קיימת יציאה אחת בלבד של רשת המספקת תעבורה של עד 100</a:t>
            </a: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מגה ביט בלבד. בנוסף ציוד זה עמיד בפני מזג האוויר הכוללים אבק ומים.</a:t>
            </a:r>
            <a:endParaRPr/>
          </a:p>
          <a:p>
            <a:pPr indent="0" lvl="0" marL="0" marR="1590675" rtl="1" algn="r">
              <a:spcBef>
                <a:spcPts val="0"/>
              </a:spcBef>
              <a:spcAft>
                <a:spcPts val="0"/>
              </a:spcAft>
              <a:buNone/>
            </a:pPr>
            <a:br>
              <a:rPr b="0" lang="iw-IL" sz="1800">
                <a:solidFill>
                  <a:schemeClr val="dk1"/>
                </a:solidFill>
                <a:latin typeface="Calibri"/>
                <a:ea typeface="Calibri"/>
                <a:cs typeface="Calibri"/>
                <a:sym typeface="Calibri"/>
              </a:rPr>
            </a:br>
            <a:r>
              <a:rPr b="1" i="0" lang="iw-IL" sz="1800" u="none" strike="noStrike">
                <a:solidFill>
                  <a:srgbClr val="000000"/>
                </a:solidFill>
                <a:latin typeface="Arial"/>
                <a:ea typeface="Arial"/>
                <a:cs typeface="Arial"/>
                <a:sym typeface="Arial"/>
              </a:rPr>
              <a:t>תצורת אייפרקטיקום ותפקיד הרכיב:</a:t>
            </a:r>
            <a:endParaRPr/>
          </a:p>
          <a:p>
            <a:pPr indent="0" lvl="0" marL="0" marR="1594041" rtl="1" algn="r">
              <a:spcBef>
                <a:spcPts val="0"/>
              </a:spcBef>
              <a:spcAft>
                <a:spcPts val="0"/>
              </a:spcAft>
              <a:buNone/>
            </a:pPr>
            <a:r>
              <a:rPr b="0" i="0" lang="iw-IL" sz="1800" u="none" strike="noStrike">
                <a:solidFill>
                  <a:srgbClr val="000000"/>
                </a:solidFill>
                <a:latin typeface="Arial"/>
                <a:ea typeface="Arial"/>
                <a:cs typeface="Arial"/>
                <a:sym typeface="Arial"/>
              </a:rPr>
              <a:t>באייפרקטיקום אנו משתמשים בציוד זה על מנת ליצור רשת סלולרית (</a:t>
            </a:r>
            <a:r>
              <a:rPr lang="iw-IL" sz="1800">
                <a:solidFill>
                  <a:srgbClr val="000000"/>
                </a:solidFill>
                <a:latin typeface="Arial"/>
                <a:ea typeface="Arial"/>
                <a:cs typeface="Arial"/>
                <a:sym typeface="Arial"/>
              </a:rPr>
              <a:t>LTE)</a:t>
            </a:r>
            <a:r>
              <a:rPr b="0" i="0" lang="iw-IL" sz="1800" u="none" strike="noStrike">
                <a:solidFill>
                  <a:srgbClr val="000000"/>
                </a:solidFill>
                <a:latin typeface="Arial"/>
                <a:ea typeface="Arial"/>
                <a:cs typeface="Arial"/>
                <a:sym typeface="Arial"/>
              </a:rPr>
              <a:t> הנועדה לגיבוי עסק הלקוח ומניעת מקרי השבתה כללית במקרה ותשתית בזק (VDSL) בעסק הלקוח נופלת ולא תקינה עקב תקלה. רכיב זה מעביר את חיבור האינטרנט הסלולרי ישירות לנתב הראשי בעסק הלקוח (MikroTik - hAP ac²) ומזין אותו. </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br>
              <a:rPr lang="iw-IL" sz="1800">
                <a:solidFill>
                  <a:schemeClr val="dk1"/>
                </a:solidFill>
                <a:latin typeface="Calibri"/>
                <a:ea typeface="Calibri"/>
                <a:cs typeface="Calibri"/>
                <a:sym typeface="Calibri"/>
              </a:rPr>
            </a:br>
            <a:br>
              <a:rPr lang="iw-IL" sz="1800">
                <a:solidFill>
                  <a:schemeClr val="dk1"/>
                </a:solidFill>
                <a:latin typeface="Calibri"/>
                <a:ea typeface="Calibri"/>
                <a:cs typeface="Calibri"/>
                <a:sym typeface="Calibri"/>
              </a:rPr>
            </a:br>
            <a:br>
              <a:rPr lang="iw-IL"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98" name="Google Shape;98;p3"/>
          <p:cNvPicPr preferRelativeResize="0"/>
          <p:nvPr/>
        </p:nvPicPr>
        <p:blipFill rotWithShape="1">
          <a:blip r:embed="rId3">
            <a:alphaModFix/>
          </a:blip>
          <a:srcRect b="0" l="0" r="0" t="0"/>
          <a:stretch/>
        </p:blipFill>
        <p:spPr>
          <a:xfrm>
            <a:off x="6832459" y="3429000"/>
            <a:ext cx="2005834" cy="3576358"/>
          </a:xfrm>
          <a:prstGeom prst="rect">
            <a:avLst/>
          </a:prstGeom>
          <a:noFill/>
          <a:ln>
            <a:noFill/>
          </a:ln>
        </p:spPr>
      </p:pic>
      <p:pic>
        <p:nvPicPr>
          <p:cNvPr descr="Go Create! :: LoRa :: MikroTik :: MikroTik RBwAPR-2nD&amp;amp;R11e-LoRa8, wAP LoRa8  kit, an out-of-the-box solution to use LoRaWAN gateway, 863-870 MHz" id="99" name="Google Shape;99;p3"/>
          <p:cNvPicPr preferRelativeResize="0"/>
          <p:nvPr/>
        </p:nvPicPr>
        <p:blipFill rotWithShape="1">
          <a:blip r:embed="rId4">
            <a:alphaModFix/>
          </a:blip>
          <a:srcRect b="0" l="0" r="0" t="0"/>
          <a:stretch/>
        </p:blipFill>
        <p:spPr>
          <a:xfrm>
            <a:off x="1978028" y="3967933"/>
            <a:ext cx="4624107" cy="28900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nvSpPr>
        <p:spPr>
          <a:xfrm>
            <a:off x="156594" y="199606"/>
            <a:ext cx="11878811" cy="4247317"/>
          </a:xfrm>
          <a:prstGeom prst="rect">
            <a:avLst/>
          </a:prstGeom>
          <a:noFill/>
          <a:ln>
            <a:noFill/>
          </a:ln>
        </p:spPr>
        <p:txBody>
          <a:bodyPr anchorCtr="0" anchor="t" bIns="45700" lIns="91425" spcFirstLastPara="1" rIns="91425" wrap="square" tIns="45700">
            <a:spAutoFit/>
          </a:bodyPr>
          <a:lstStyle/>
          <a:p>
            <a:pPr indent="0" lvl="0" marL="0" marR="1594041" rtl="1" algn="r">
              <a:spcBef>
                <a:spcPts val="0"/>
              </a:spcBef>
              <a:spcAft>
                <a:spcPts val="0"/>
              </a:spcAft>
              <a:buNone/>
            </a:pPr>
            <a:r>
              <a:rPr b="1" i="0" lang="iw-IL" sz="1800" u="none" strike="noStrike">
                <a:solidFill>
                  <a:srgbClr val="000000"/>
                </a:solidFill>
                <a:latin typeface="Arial"/>
                <a:ea typeface="Arial"/>
                <a:cs typeface="Arial"/>
                <a:sym typeface="Arial"/>
              </a:rPr>
              <a:t>מוצר : MikroTik wAP LTE kit</a:t>
            </a:r>
            <a:endParaRPr/>
          </a:p>
          <a:p>
            <a:pPr indent="0" lvl="0" marL="0" marR="1594041" rtl="1" algn="r">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r>
              <a:rPr b="1" i="0" lang="iw-IL" sz="1800" u="none" strike="noStrike">
                <a:solidFill>
                  <a:srgbClr val="000000"/>
                </a:solidFill>
                <a:latin typeface="Arial"/>
                <a:ea typeface="Arial"/>
                <a:cs typeface="Arial"/>
                <a:sym typeface="Arial"/>
              </a:rPr>
              <a:t>תיאור מוצר ויכולות: </a:t>
            </a:r>
            <a:endParaRPr b="1" i="0" sz="1800" u="none" strike="noStrike">
              <a:solidFill>
                <a:srgbClr val="000000"/>
              </a:solidFill>
              <a:latin typeface="Arial"/>
              <a:ea typeface="Arial"/>
              <a:cs typeface="Arial"/>
              <a:sym typeface="Arial"/>
            </a:endParaRPr>
          </a:p>
          <a:p>
            <a:pPr indent="0" lvl="0" marL="0" marR="1590675" rtl="1" algn="r">
              <a:spcBef>
                <a:spcPts val="0"/>
              </a:spcBef>
              <a:spcAft>
                <a:spcPts val="0"/>
              </a:spcAft>
              <a:buNone/>
            </a:pPr>
            <a:r>
              <a:rPr b="0" i="0" lang="iw-IL" sz="1800" u="none" strike="noStrike">
                <a:solidFill>
                  <a:srgbClr val="000000"/>
                </a:solidFill>
                <a:latin typeface="Arial"/>
                <a:ea typeface="Arial"/>
                <a:cs typeface="Arial"/>
                <a:sym typeface="Arial"/>
              </a:rPr>
              <a:t> MikroTik cAP acהוא רכיב נקודת גישה (AP)</a:t>
            </a:r>
            <a:endParaRPr b="0" sz="1800">
              <a:solidFill>
                <a:schemeClr val="dk1"/>
              </a:solidFill>
              <a:latin typeface="Calibri"/>
              <a:ea typeface="Calibri"/>
              <a:cs typeface="Calibri"/>
              <a:sym typeface="Calibri"/>
            </a:endParaRPr>
          </a:p>
          <a:p>
            <a:pPr indent="0" lvl="0" marL="0" marR="1590675" rtl="1" algn="r">
              <a:spcBef>
                <a:spcPts val="0"/>
              </a:spcBef>
              <a:spcAft>
                <a:spcPts val="0"/>
              </a:spcAft>
              <a:buNone/>
            </a:pPr>
            <a:r>
              <a:rPr b="0" i="0" lang="iw-IL" sz="1800" u="none" strike="noStrike">
                <a:solidFill>
                  <a:srgbClr val="000000"/>
                </a:solidFill>
                <a:latin typeface="Arial"/>
                <a:ea typeface="Arial"/>
                <a:cs typeface="Arial"/>
                <a:sym typeface="Arial"/>
              </a:rPr>
              <a:t>הוא בעל יכולת גבוהה ורבת עוצמה ובעיצוב אסתטי הנועד לתליה על תקרות או קירות. מוצר זה יודע לייצר מספר רב של רשתות אלחוטיות בתקנים של  2.4 / 5 GHz. נקודת גישה זו מכילה גם 2 יציאות רשת LAN  בהספק של 1 ג'יגה ביט - אחת לכניסת כבל רשת POE (חשמל על גבי אינטרנט) להזין את המוצר ללא ספק כוח, והיציאה השנייה נועדה להזנת רכיב רשת אחד ואספקת חשמל על ידיד  POE לאותו רכיב.</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br>
              <a:rPr lang="iw-IL" sz="1800">
                <a:solidFill>
                  <a:schemeClr val="dk1"/>
                </a:solidFill>
                <a:latin typeface="Calibri"/>
                <a:ea typeface="Calibri"/>
                <a:cs typeface="Calibri"/>
                <a:sym typeface="Calibri"/>
              </a:rPr>
            </a:br>
            <a:br>
              <a:rPr b="0" lang="iw-IL" sz="1800">
                <a:solidFill>
                  <a:schemeClr val="dk1"/>
                </a:solidFill>
                <a:latin typeface="Calibri"/>
                <a:ea typeface="Calibri"/>
                <a:cs typeface="Calibri"/>
                <a:sym typeface="Calibri"/>
              </a:rPr>
            </a:br>
            <a:r>
              <a:rPr b="1" i="0" lang="iw-IL" sz="1800" u="none" strike="noStrike">
                <a:solidFill>
                  <a:srgbClr val="000000"/>
                </a:solidFill>
                <a:latin typeface="Arial"/>
                <a:ea typeface="Arial"/>
                <a:cs typeface="Arial"/>
                <a:sym typeface="Arial"/>
              </a:rPr>
              <a:t>תצורת אייפרקטיקום ותפקיד הרכיב:</a:t>
            </a:r>
            <a:endParaRPr/>
          </a:p>
          <a:p>
            <a:pPr indent="0" lvl="0" marL="0" marR="1594041" rtl="1" algn="r">
              <a:spcBef>
                <a:spcPts val="0"/>
              </a:spcBef>
              <a:spcAft>
                <a:spcPts val="0"/>
              </a:spcAft>
              <a:buNone/>
            </a:pPr>
            <a:r>
              <a:rPr b="0" i="0" lang="iw-IL" sz="1800" u="none" strike="noStrike">
                <a:solidFill>
                  <a:srgbClr val="000000"/>
                </a:solidFill>
                <a:latin typeface="Arial"/>
                <a:ea typeface="Arial"/>
                <a:cs typeface="Arial"/>
                <a:sym typeface="Arial"/>
              </a:rPr>
              <a:t>באייפרקטיקום אנו משתמשים במוצר זה על מנת ליצור רשתות אלחוטיות בעסק הלקוח לטובת WIFI ללקוחות</a:t>
            </a:r>
            <a:r>
              <a:rPr lang="iw-IL" sz="1800">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   WIFI  לטובת עובדי האתר (מנהלה) ו- WIFIלמסופונים + לאייפד קופה בצורה אלחוטית. </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br>
              <a:rPr lang="iw-IL"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p:txBody>
      </p:sp>
      <p:pic>
        <p:nvPicPr>
          <p:cNvPr id="105" name="Google Shape;105;p4"/>
          <p:cNvPicPr preferRelativeResize="0"/>
          <p:nvPr/>
        </p:nvPicPr>
        <p:blipFill rotWithShape="1">
          <a:blip r:embed="rId3">
            <a:alphaModFix/>
          </a:blip>
          <a:srcRect b="0" l="0" r="0" t="0"/>
          <a:stretch/>
        </p:blipFill>
        <p:spPr>
          <a:xfrm>
            <a:off x="2774525" y="4247658"/>
            <a:ext cx="3726943" cy="2410736"/>
          </a:xfrm>
          <a:prstGeom prst="rect">
            <a:avLst/>
          </a:prstGeom>
          <a:noFill/>
          <a:ln>
            <a:noFill/>
          </a:ln>
        </p:spPr>
      </p:pic>
      <p:pic>
        <p:nvPicPr>
          <p:cNvPr id="106" name="Google Shape;106;p4"/>
          <p:cNvPicPr preferRelativeResize="0"/>
          <p:nvPr/>
        </p:nvPicPr>
        <p:blipFill rotWithShape="1">
          <a:blip r:embed="rId4">
            <a:alphaModFix/>
          </a:blip>
          <a:srcRect b="0" l="0" r="0" t="0"/>
          <a:stretch/>
        </p:blipFill>
        <p:spPr>
          <a:xfrm>
            <a:off x="7157758" y="4043494"/>
            <a:ext cx="2691808" cy="2614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nvSpPr>
        <p:spPr>
          <a:xfrm>
            <a:off x="173372" y="249940"/>
            <a:ext cx="11845255" cy="3693319"/>
          </a:xfrm>
          <a:prstGeom prst="rect">
            <a:avLst/>
          </a:prstGeom>
          <a:noFill/>
          <a:ln>
            <a:noFill/>
          </a:ln>
        </p:spPr>
        <p:txBody>
          <a:bodyPr anchorCtr="0" anchor="t" bIns="45700" lIns="91425" spcFirstLastPara="1" rIns="91425" wrap="square" tIns="45700">
            <a:spAutoFit/>
          </a:bodyPr>
          <a:lstStyle/>
          <a:p>
            <a:pPr indent="0" lvl="0" marL="0" marR="1594041" rtl="1" algn="r">
              <a:spcBef>
                <a:spcPts val="0"/>
              </a:spcBef>
              <a:spcAft>
                <a:spcPts val="0"/>
              </a:spcAft>
              <a:buNone/>
            </a:pPr>
            <a:r>
              <a:rPr b="1" i="0" lang="iw-IL" sz="1800" u="none" strike="noStrike">
                <a:solidFill>
                  <a:srgbClr val="000000"/>
                </a:solidFill>
                <a:latin typeface="Arial"/>
                <a:ea typeface="Arial"/>
                <a:cs typeface="Arial"/>
                <a:sym typeface="Arial"/>
              </a:rPr>
              <a:t>מוצר : Broadcom TW T128</a:t>
            </a:r>
            <a:endParaRPr/>
          </a:p>
          <a:p>
            <a:pPr indent="0" lvl="0" marL="0" marR="1594041" rtl="1" algn="r">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r>
              <a:rPr b="1" i="0" lang="iw-IL" sz="1800" u="none" strike="noStrike">
                <a:solidFill>
                  <a:srgbClr val="000000"/>
                </a:solidFill>
                <a:latin typeface="Arial"/>
                <a:ea typeface="Arial"/>
                <a:cs typeface="Arial"/>
                <a:sym typeface="Arial"/>
              </a:rPr>
              <a:t>תיאור מוצר ויכולות: </a:t>
            </a:r>
            <a:endParaRPr b="1" i="0" sz="1800" u="none" strike="noStrike">
              <a:solidFill>
                <a:srgbClr val="000000"/>
              </a:solidFill>
              <a:latin typeface="Arial"/>
              <a:ea typeface="Arial"/>
              <a:cs typeface="Arial"/>
              <a:sym typeface="Arial"/>
            </a:endParaRPr>
          </a:p>
          <a:p>
            <a:pPr indent="0" lvl="0" marL="0" marR="1590675" rtl="1" algn="r">
              <a:spcBef>
                <a:spcPts val="0"/>
              </a:spcBef>
              <a:spcAft>
                <a:spcPts val="0"/>
              </a:spcAft>
              <a:buNone/>
            </a:pP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Broadcom TW T128</a:t>
            </a: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הוא מודם ראוטר התומך בחיבור תשתית בזק (VDSL), במוצר זה קיימות 4 יציאות רשת LAN  במהירות של עד 100 מגהביט, כניסת DSL וכניסת ספק כוח. </a:t>
            </a:r>
            <a:br>
              <a:rPr lang="iw-IL" sz="1800">
                <a:solidFill>
                  <a:schemeClr val="dk1"/>
                </a:solidFill>
                <a:latin typeface="Calibri"/>
                <a:ea typeface="Calibri"/>
                <a:cs typeface="Calibri"/>
                <a:sym typeface="Calibri"/>
              </a:rPr>
            </a:br>
            <a:br>
              <a:rPr b="0" lang="iw-IL" sz="1800">
                <a:solidFill>
                  <a:schemeClr val="dk1"/>
                </a:solidFill>
                <a:latin typeface="Calibri"/>
                <a:ea typeface="Calibri"/>
                <a:cs typeface="Calibri"/>
                <a:sym typeface="Calibri"/>
              </a:rPr>
            </a:br>
            <a:r>
              <a:rPr b="1" i="0" lang="iw-IL" sz="1800" u="none" strike="noStrike">
                <a:solidFill>
                  <a:srgbClr val="000000"/>
                </a:solidFill>
                <a:latin typeface="Arial"/>
                <a:ea typeface="Arial"/>
                <a:cs typeface="Arial"/>
                <a:sym typeface="Arial"/>
              </a:rPr>
              <a:t>תצורת אייפרקטיקום ותפקיד הרכיב:</a:t>
            </a:r>
            <a:endParaRPr/>
          </a:p>
          <a:p>
            <a:pPr indent="0" lvl="0" marL="0" marR="1594041" rtl="1" algn="r">
              <a:spcBef>
                <a:spcPts val="0"/>
              </a:spcBef>
              <a:spcAft>
                <a:spcPts val="0"/>
              </a:spcAft>
              <a:buNone/>
            </a:pPr>
            <a:r>
              <a:rPr b="0" i="0" lang="iw-IL" sz="1800" u="none" strike="noStrike">
                <a:solidFill>
                  <a:srgbClr val="000000"/>
                </a:solidFill>
                <a:latin typeface="Arial"/>
                <a:ea typeface="Arial"/>
                <a:cs typeface="Arial"/>
                <a:sym typeface="Arial"/>
              </a:rPr>
              <a:t>באייפרקטיקום אנו משתמשים במוצר זה לטובת חיבור התשתית של הלקוח והגדרת מודם ראוטר זה בתצורת ברידג' (מודם בלבד). לאחר שאנו הופכים מוצר זה למודם בלבד ע"</a:t>
            </a:r>
            <a:r>
              <a:rPr lang="iw-IL" sz="1800">
                <a:solidFill>
                  <a:srgbClr val="000000"/>
                </a:solidFill>
                <a:latin typeface="Arial"/>
                <a:ea typeface="Arial"/>
                <a:cs typeface="Arial"/>
                <a:sym typeface="Arial"/>
              </a:rPr>
              <a:t>י</a:t>
            </a:r>
            <a:r>
              <a:rPr b="0" i="0" lang="iw-IL" sz="1800" u="none" strike="noStrike">
                <a:solidFill>
                  <a:srgbClr val="000000"/>
                </a:solidFill>
                <a:latin typeface="Arial"/>
                <a:ea typeface="Arial"/>
                <a:cs typeface="Arial"/>
                <a:sym typeface="Arial"/>
              </a:rPr>
              <a:t> כמה הגדרות פשוטות, אנו מחברים פיזית את מודם זה לראוטר המרכזי הראשי (</a:t>
            </a:r>
            <a:r>
              <a:rPr b="1" i="0" lang="iw-IL" sz="1800" u="none" strike="noStrike">
                <a:solidFill>
                  <a:srgbClr val="000000"/>
                </a:solidFill>
                <a:latin typeface="Arial"/>
                <a:ea typeface="Arial"/>
                <a:cs typeface="Arial"/>
                <a:sym typeface="Arial"/>
              </a:rPr>
              <a:t>MikroTik</a:t>
            </a:r>
            <a:r>
              <a:rPr b="0" i="0" lang="iw-IL" sz="1800" u="none" strike="noStrike">
                <a:solidFill>
                  <a:srgbClr val="000000"/>
                </a:solidFill>
                <a:latin typeface="Arial"/>
                <a:ea typeface="Arial"/>
                <a:cs typeface="Arial"/>
                <a:sym typeface="Arial"/>
              </a:rPr>
              <a:t> - </a:t>
            </a:r>
            <a:r>
              <a:rPr b="1" i="0" lang="iw-IL" sz="1800" u="none" strike="noStrike">
                <a:solidFill>
                  <a:srgbClr val="000000"/>
                </a:solidFill>
                <a:latin typeface="Arial"/>
                <a:ea typeface="Arial"/>
                <a:cs typeface="Arial"/>
                <a:sym typeface="Arial"/>
              </a:rPr>
              <a:t>hAP ac²</a:t>
            </a:r>
            <a:r>
              <a:rPr b="0" i="0" lang="iw-IL" sz="1800" u="none" strike="noStrike">
                <a:solidFill>
                  <a:srgbClr val="000000"/>
                </a:solidFill>
                <a:latin typeface="Arial"/>
                <a:ea typeface="Arial"/>
                <a:cs typeface="Arial"/>
                <a:sym typeface="Arial"/>
              </a:rPr>
              <a:t>) ויוצרים העברת חיבור תשתית בזק ע"י כבל לרשת, לאחר מכן הראוטר הראשי מבצע חיוג לספק האינטרנט שלנו ויוצר חיבור אינטרנט אמיתי לעולם החוצה. </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br>
              <a:rPr lang="iw-IL"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p:txBody>
      </p:sp>
      <p:pic>
        <p:nvPicPr>
          <p:cNvPr id="112" name="Google Shape;112;p5"/>
          <p:cNvPicPr preferRelativeResize="0"/>
          <p:nvPr/>
        </p:nvPicPr>
        <p:blipFill rotWithShape="1">
          <a:blip r:embed="rId3">
            <a:alphaModFix/>
          </a:blip>
          <a:srcRect b="0" l="0" r="0" t="0"/>
          <a:stretch/>
        </p:blipFill>
        <p:spPr>
          <a:xfrm>
            <a:off x="6267407" y="3642250"/>
            <a:ext cx="5032564" cy="2888822"/>
          </a:xfrm>
          <a:prstGeom prst="rect">
            <a:avLst/>
          </a:prstGeom>
          <a:noFill/>
          <a:ln>
            <a:noFill/>
          </a:ln>
        </p:spPr>
      </p:pic>
      <p:pic>
        <p:nvPicPr>
          <p:cNvPr id="113" name="Google Shape;113;p5"/>
          <p:cNvPicPr preferRelativeResize="0"/>
          <p:nvPr/>
        </p:nvPicPr>
        <p:blipFill rotWithShape="1">
          <a:blip r:embed="rId4">
            <a:alphaModFix/>
          </a:blip>
          <a:srcRect b="0" l="0" r="0" t="0"/>
          <a:stretch/>
        </p:blipFill>
        <p:spPr>
          <a:xfrm>
            <a:off x="3044558" y="3971359"/>
            <a:ext cx="2732659" cy="22868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nvSpPr>
        <p:spPr>
          <a:xfrm>
            <a:off x="144011" y="289679"/>
            <a:ext cx="11903978" cy="3693319"/>
          </a:xfrm>
          <a:prstGeom prst="rect">
            <a:avLst/>
          </a:prstGeom>
          <a:noFill/>
          <a:ln>
            <a:noFill/>
          </a:ln>
        </p:spPr>
        <p:txBody>
          <a:bodyPr anchorCtr="0" anchor="t" bIns="45700" lIns="91425" spcFirstLastPara="1" rIns="91425" wrap="square" tIns="45700">
            <a:spAutoFit/>
          </a:bodyPr>
          <a:lstStyle/>
          <a:p>
            <a:pPr indent="0" lvl="0" marL="0" marR="1594041" rtl="1" algn="r">
              <a:spcBef>
                <a:spcPts val="0"/>
              </a:spcBef>
              <a:spcAft>
                <a:spcPts val="0"/>
              </a:spcAft>
              <a:buNone/>
            </a:pPr>
            <a:r>
              <a:rPr b="1" i="0" lang="iw-IL" sz="1800" u="none" strike="noStrike">
                <a:solidFill>
                  <a:srgbClr val="000000"/>
                </a:solidFill>
                <a:latin typeface="Arial"/>
                <a:ea typeface="Arial"/>
                <a:cs typeface="Arial"/>
                <a:sym typeface="Arial"/>
              </a:rPr>
              <a:t>מוצר : Broadcom TW T128</a:t>
            </a:r>
            <a:endParaRPr/>
          </a:p>
          <a:p>
            <a:pPr indent="0" lvl="0" marL="0" marR="1594041" rtl="1" algn="r">
              <a:spcBef>
                <a:spcPts val="0"/>
              </a:spcBef>
              <a:spcAft>
                <a:spcPts val="0"/>
              </a:spcAft>
              <a:buNone/>
            </a:pPr>
            <a:r>
              <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r>
              <a:rPr b="1" i="0" lang="iw-IL" sz="1800" u="none" strike="noStrike">
                <a:solidFill>
                  <a:srgbClr val="000000"/>
                </a:solidFill>
                <a:latin typeface="Arial"/>
                <a:ea typeface="Arial"/>
                <a:cs typeface="Arial"/>
                <a:sym typeface="Arial"/>
              </a:rPr>
              <a:t>תיאור מוצר ויכולות: </a:t>
            </a:r>
            <a:endParaRPr b="1" i="0" sz="1800" u="none" strike="noStrike">
              <a:solidFill>
                <a:srgbClr val="000000"/>
              </a:solidFill>
              <a:latin typeface="Arial"/>
              <a:ea typeface="Arial"/>
              <a:cs typeface="Arial"/>
              <a:sym typeface="Arial"/>
            </a:endParaRPr>
          </a:p>
          <a:p>
            <a:pPr indent="0" lvl="0" marL="0" marR="154038" rtl="1" algn="r">
              <a:spcBef>
                <a:spcPts val="0"/>
              </a:spcBef>
              <a:spcAft>
                <a:spcPts val="0"/>
              </a:spcAft>
              <a:buNone/>
            </a:pP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Aruba 1930 195W</a:t>
            </a:r>
            <a:r>
              <a:rPr b="1" i="0" lang="iw-IL" sz="1800" u="none" strike="noStrike">
                <a:solidFill>
                  <a:srgbClr val="000000"/>
                </a:solidFill>
                <a:latin typeface="Arial"/>
                <a:ea typeface="Arial"/>
                <a:cs typeface="Arial"/>
                <a:sym typeface="Arial"/>
              </a:rPr>
              <a:t> </a:t>
            </a:r>
            <a:r>
              <a:rPr b="0" i="0" lang="iw-IL" sz="1800" u="none" strike="noStrike">
                <a:solidFill>
                  <a:srgbClr val="000000"/>
                </a:solidFill>
                <a:latin typeface="Arial"/>
                <a:ea typeface="Arial"/>
                <a:cs typeface="Arial"/>
                <a:sym typeface="Arial"/>
              </a:rPr>
              <a:t>הוא מתג (סוויץ') היודע לקבל הזנת אינטרנט ולפצל את מספר החיבורים ברשת. בנוסף מוצר זה יודע להעביר חשמל על גבי כבל רשת (POE) לרכיבים המחוברים אליו. מתגים של חברת  Arubaמגיעים עם מספרי כניסות משתנות מ-8 פורטים ועד 48 פורטים. מוצר זה יודע לבצע חילוק של תעבורת מידע לפי צביעת פאקטות ברשת בשיטת VLAN’S -</a:t>
            </a:r>
            <a:endParaRPr b="0" sz="1800">
              <a:solidFill>
                <a:schemeClr val="dk1"/>
              </a:solidFill>
              <a:latin typeface="Calibri"/>
              <a:ea typeface="Calibri"/>
              <a:cs typeface="Calibri"/>
              <a:sym typeface="Calibri"/>
            </a:endParaRPr>
          </a:p>
          <a:p>
            <a:pPr indent="0" lvl="0" marL="0" marR="0" rtl="0" algn="r">
              <a:spcBef>
                <a:spcPts val="0"/>
              </a:spcBef>
              <a:spcAft>
                <a:spcPts val="0"/>
              </a:spcAft>
              <a:buNone/>
            </a:pPr>
            <a:br>
              <a:rPr b="0" lang="iw-IL" sz="1800">
                <a:solidFill>
                  <a:schemeClr val="dk1"/>
                </a:solidFill>
                <a:latin typeface="Calibri"/>
                <a:ea typeface="Calibri"/>
                <a:cs typeface="Calibri"/>
                <a:sym typeface="Calibri"/>
              </a:rPr>
            </a:br>
            <a:r>
              <a:rPr b="1" i="0" lang="iw-IL" sz="1800" u="none" strike="noStrike">
                <a:solidFill>
                  <a:srgbClr val="000000"/>
                </a:solidFill>
                <a:latin typeface="Arial"/>
                <a:ea typeface="Arial"/>
                <a:cs typeface="Arial"/>
                <a:sym typeface="Arial"/>
              </a:rPr>
              <a:t>תצורת אייפרקטיקום ותפקיד הרכיב:</a:t>
            </a:r>
            <a:endParaRPr/>
          </a:p>
          <a:p>
            <a:pPr indent="0" lvl="0" marL="0" marR="154038" rtl="1" algn="r">
              <a:spcBef>
                <a:spcPts val="0"/>
              </a:spcBef>
              <a:spcAft>
                <a:spcPts val="0"/>
              </a:spcAft>
              <a:buNone/>
            </a:pPr>
            <a:r>
              <a:rPr b="0" i="0" lang="iw-IL" sz="1800" u="none" strike="noStrike">
                <a:solidFill>
                  <a:srgbClr val="000000"/>
                </a:solidFill>
                <a:latin typeface="Arial"/>
                <a:ea typeface="Arial"/>
                <a:cs typeface="Arial"/>
                <a:sym typeface="Arial"/>
              </a:rPr>
              <a:t>באייפרקטיקום אנו משתמשים במוצר זה לטובת הגדלת חיבורי הרשת בעסק הלקוח והעברת האינטרנט לשלל הרכיבים בהתאם לצרכים. אנו מחברים אותו ישירות לראוטר הראשי ומבצעים צביעת פאקטות לכל רכיב ברשת –  </a:t>
            </a:r>
            <a:r>
              <a:rPr lang="iw-IL" sz="1800">
                <a:solidFill>
                  <a:srgbClr val="000000"/>
                </a:solidFill>
                <a:latin typeface="Arial"/>
                <a:ea typeface="Arial"/>
                <a:cs typeface="Arial"/>
                <a:sym typeface="Arial"/>
              </a:rPr>
              <a:t>,</a:t>
            </a:r>
            <a:r>
              <a:rPr b="0" i="0" lang="iw-IL" sz="1800" u="none" strike="noStrike">
                <a:solidFill>
                  <a:srgbClr val="000000"/>
                </a:solidFill>
                <a:latin typeface="Arial"/>
                <a:ea typeface="Arial"/>
                <a:cs typeface="Arial"/>
                <a:sym typeface="Arial"/>
              </a:rPr>
              <a:t>APקופות, מחשבים, טלפונים וכו' בהתאם לצורך.</a:t>
            </a:r>
            <a:endParaRPr b="0" sz="1800">
              <a:solidFill>
                <a:schemeClr val="dk1"/>
              </a:solidFill>
              <a:latin typeface="Calibri"/>
              <a:ea typeface="Calibri"/>
              <a:cs typeface="Calibri"/>
              <a:sym typeface="Calibri"/>
            </a:endParaRPr>
          </a:p>
          <a:p>
            <a:pPr indent="0" lvl="0" marL="0" marR="0" rtl="0" algn="l">
              <a:spcBef>
                <a:spcPts val="0"/>
              </a:spcBef>
              <a:spcAft>
                <a:spcPts val="0"/>
              </a:spcAft>
              <a:buNone/>
            </a:pPr>
            <a:br>
              <a:rPr lang="iw-IL" sz="1800">
                <a:solidFill>
                  <a:schemeClr val="dk1"/>
                </a:solidFill>
                <a:latin typeface="Calibri"/>
                <a:ea typeface="Calibri"/>
                <a:cs typeface="Calibri"/>
                <a:sym typeface="Calibri"/>
              </a:rPr>
            </a:br>
            <a:endParaRPr b="0" sz="1800">
              <a:solidFill>
                <a:schemeClr val="dk1"/>
              </a:solidFill>
              <a:latin typeface="Calibri"/>
              <a:ea typeface="Calibri"/>
              <a:cs typeface="Calibri"/>
              <a:sym typeface="Calibri"/>
            </a:endParaRPr>
          </a:p>
        </p:txBody>
      </p:sp>
      <p:pic>
        <p:nvPicPr>
          <p:cNvPr id="119" name="Google Shape;119;p6"/>
          <p:cNvPicPr preferRelativeResize="0"/>
          <p:nvPr/>
        </p:nvPicPr>
        <p:blipFill rotWithShape="1">
          <a:blip r:embed="rId3">
            <a:alphaModFix/>
          </a:blip>
          <a:srcRect b="0" l="0" r="0" t="0"/>
          <a:stretch/>
        </p:blipFill>
        <p:spPr>
          <a:xfrm>
            <a:off x="5533238" y="4370663"/>
            <a:ext cx="5883479" cy="1695031"/>
          </a:xfrm>
          <a:prstGeom prst="rect">
            <a:avLst/>
          </a:prstGeom>
          <a:noFill/>
          <a:ln>
            <a:noFill/>
          </a:ln>
        </p:spPr>
      </p:pic>
      <p:pic>
        <p:nvPicPr>
          <p:cNvPr descr="Aruba Instant On 1930 24G 195W (JL683A) - Network switch Aruba on LDLC" id="120" name="Google Shape;120;p6"/>
          <p:cNvPicPr preferRelativeResize="0"/>
          <p:nvPr/>
        </p:nvPicPr>
        <p:blipFill rotWithShape="1">
          <a:blip r:embed="rId4">
            <a:alphaModFix/>
          </a:blip>
          <a:srcRect b="0" l="0" r="0" t="0"/>
          <a:stretch/>
        </p:blipFill>
        <p:spPr>
          <a:xfrm>
            <a:off x="1240871" y="3140978"/>
            <a:ext cx="3717022" cy="37170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nvSpPr>
        <p:spPr>
          <a:xfrm>
            <a:off x="2317459" y="108949"/>
            <a:ext cx="6094602" cy="446276"/>
          </a:xfrm>
          <a:prstGeom prst="rect">
            <a:avLst/>
          </a:prstGeom>
          <a:noFill/>
          <a:ln>
            <a:noFill/>
          </a:ln>
        </p:spPr>
        <p:txBody>
          <a:bodyPr anchorCtr="0" anchor="t" bIns="45700" lIns="91425" spcFirstLastPara="1" rIns="91425" wrap="square" tIns="45700">
            <a:spAutoFit/>
          </a:bodyPr>
          <a:lstStyle/>
          <a:p>
            <a:pPr indent="0" lvl="0" marL="0" marR="1590675" rtl="1" algn="ctr">
              <a:spcBef>
                <a:spcPts val="0"/>
              </a:spcBef>
              <a:spcAft>
                <a:spcPts val="0"/>
              </a:spcAft>
              <a:buNone/>
            </a:pPr>
            <a:r>
              <a:rPr b="1" lang="iw-IL" sz="2300">
                <a:solidFill>
                  <a:srgbClr val="000000"/>
                </a:solidFill>
                <a:latin typeface="Arial"/>
                <a:ea typeface="Arial"/>
                <a:cs typeface="Arial"/>
                <a:sym typeface="Arial"/>
              </a:rPr>
              <a:t>שרטוט טופולוגיית רשת - MikroTik</a:t>
            </a:r>
            <a:endParaRPr b="1" sz="2300">
              <a:solidFill>
                <a:srgbClr val="000000"/>
              </a:solidFill>
              <a:latin typeface="Arial"/>
              <a:ea typeface="Arial"/>
              <a:cs typeface="Arial"/>
              <a:sym typeface="Arial"/>
            </a:endParaRPr>
          </a:p>
        </p:txBody>
      </p:sp>
      <p:pic>
        <p:nvPicPr>
          <p:cNvPr id="126" name="Google Shape;126;p7"/>
          <p:cNvPicPr preferRelativeResize="0"/>
          <p:nvPr/>
        </p:nvPicPr>
        <p:blipFill rotWithShape="1">
          <a:blip r:embed="rId3">
            <a:alphaModFix/>
          </a:blip>
          <a:srcRect b="0" l="0" r="0" t="0"/>
          <a:stretch/>
        </p:blipFill>
        <p:spPr>
          <a:xfrm>
            <a:off x="1337185" y="431675"/>
            <a:ext cx="9871787" cy="6302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nvSpPr>
        <p:spPr>
          <a:xfrm>
            <a:off x="139817" y="143877"/>
            <a:ext cx="11761365" cy="4678204"/>
          </a:xfrm>
          <a:prstGeom prst="rect">
            <a:avLst/>
          </a:prstGeom>
          <a:noFill/>
          <a:ln>
            <a:noFill/>
          </a:ln>
        </p:spPr>
        <p:txBody>
          <a:bodyPr anchorCtr="0" anchor="t" bIns="45700" lIns="91425" spcFirstLastPara="1" rIns="91425" wrap="square" tIns="45700">
            <a:spAutoFit/>
          </a:bodyPr>
          <a:lstStyle/>
          <a:p>
            <a:pPr indent="0" lvl="0" marL="0" marR="0" rtl="1" algn="ctr">
              <a:spcBef>
                <a:spcPts val="0"/>
              </a:spcBef>
              <a:spcAft>
                <a:spcPts val="0"/>
              </a:spcAft>
              <a:buNone/>
            </a:pPr>
            <a:r>
              <a:rPr b="1" i="0" lang="iw-IL" sz="2300" u="none" strike="noStrike">
                <a:solidFill>
                  <a:srgbClr val="000000"/>
                </a:solidFill>
                <a:latin typeface="Arial"/>
                <a:ea typeface="Arial"/>
                <a:cs typeface="Arial"/>
                <a:sym typeface="Arial"/>
              </a:rPr>
              <a:t>מדריך חיבור מרחוק לראוטר MikroTik</a:t>
            </a:r>
            <a:endParaRPr b="1" i="0" sz="2300" u="none" strike="noStrike">
              <a:solidFill>
                <a:srgbClr val="000000"/>
              </a:solidFill>
              <a:latin typeface="Arial"/>
              <a:ea typeface="Arial"/>
              <a:cs typeface="Arial"/>
              <a:sym typeface="Arial"/>
            </a:endParaRPr>
          </a:p>
          <a:p>
            <a:pPr indent="0" lvl="0" marL="0" marR="0" rtl="1" algn="r">
              <a:spcBef>
                <a:spcPts val="0"/>
              </a:spcBef>
              <a:spcAft>
                <a:spcPts val="0"/>
              </a:spcAft>
              <a:buNone/>
            </a:pPr>
            <a:r>
              <a:t/>
            </a:r>
            <a:endParaRPr b="1" sz="2300">
              <a:solidFill>
                <a:srgbClr val="000000"/>
              </a:solidFill>
              <a:latin typeface="Arial"/>
              <a:ea typeface="Arial"/>
              <a:cs typeface="Arial"/>
              <a:sym typeface="Arial"/>
            </a:endParaRPr>
          </a:p>
          <a:p>
            <a:pPr indent="0" lvl="0" marL="0" marR="0" rtl="1" algn="r">
              <a:spcBef>
                <a:spcPts val="0"/>
              </a:spcBef>
              <a:spcAft>
                <a:spcPts val="0"/>
              </a:spcAft>
              <a:buNone/>
            </a:pPr>
            <a:r>
              <a:rPr lang="iw-IL" sz="1800">
                <a:solidFill>
                  <a:srgbClr val="000000"/>
                </a:solidFill>
                <a:latin typeface="Arial"/>
                <a:ea typeface="Arial"/>
                <a:cs typeface="Arial"/>
                <a:sym typeface="Arial"/>
              </a:rPr>
              <a:t>על מנת לתמוך בתקלת לקוח או לביצוע בדיקות בציוד הרשת אנו נהיה חייבים לבצע חיבור מרחוק לראוטר הנמצא באתר הלקוח. </a:t>
            </a:r>
            <a:endParaRPr/>
          </a:p>
          <a:p>
            <a:pPr indent="0" lvl="0" marL="0" marR="0" rtl="1" algn="r">
              <a:spcBef>
                <a:spcPts val="0"/>
              </a:spcBef>
              <a:spcAft>
                <a:spcPts val="0"/>
              </a:spcAft>
              <a:buNone/>
            </a:pPr>
            <a:r>
              <a:rPr lang="iw-IL" sz="1800">
                <a:solidFill>
                  <a:srgbClr val="000000"/>
                </a:solidFill>
                <a:latin typeface="Arial"/>
                <a:ea typeface="Arial"/>
                <a:cs typeface="Arial"/>
                <a:sym typeface="Arial"/>
              </a:rPr>
              <a:t>בשונה מראוטרים רגילים שמתחברים אליהם דרך אתר אינטרנט בשיטת WEB, אנו נבצע חיבור דרך תוכנה ייעודית שנועדה על מנת להתחבר לכלל מוצרי MikroTik. תוכנה זו נקראת  </a:t>
            </a:r>
            <a:r>
              <a:rPr b="1" lang="iw-IL" sz="1800">
                <a:solidFill>
                  <a:srgbClr val="000000"/>
                </a:solidFill>
                <a:latin typeface="Arial"/>
                <a:ea typeface="Arial"/>
                <a:cs typeface="Arial"/>
                <a:sym typeface="Arial"/>
              </a:rPr>
              <a:t>WINBOX</a:t>
            </a:r>
            <a:r>
              <a:rPr lang="iw-IL" sz="1800">
                <a:solidFill>
                  <a:srgbClr val="000000"/>
                </a:solidFill>
                <a:latin typeface="Arial"/>
                <a:ea typeface="Arial"/>
                <a:cs typeface="Arial"/>
                <a:sym typeface="Arial"/>
              </a:rPr>
              <a:t> והיא חייבת להיות מקומית על המחשב על מנת שנוכל להתחבר. </a:t>
            </a:r>
            <a:endParaRPr/>
          </a:p>
          <a:p>
            <a:pPr indent="0" lvl="0" marL="0" marR="0" rtl="1" algn="r">
              <a:spcBef>
                <a:spcPts val="0"/>
              </a:spcBef>
              <a:spcAft>
                <a:spcPts val="0"/>
              </a:spcAft>
              <a:buNone/>
            </a:pPr>
            <a:r>
              <a:t/>
            </a:r>
            <a:endParaRPr sz="1800">
              <a:solidFill>
                <a:srgbClr val="000000"/>
              </a:solidFill>
              <a:latin typeface="Arial"/>
              <a:ea typeface="Arial"/>
              <a:cs typeface="Arial"/>
              <a:sym typeface="Arial"/>
            </a:endParaRPr>
          </a:p>
          <a:p>
            <a:pPr indent="0" lvl="0" marL="0" marR="0" rtl="1" algn="r">
              <a:spcBef>
                <a:spcPts val="0"/>
              </a:spcBef>
              <a:spcAft>
                <a:spcPts val="0"/>
              </a:spcAft>
              <a:buNone/>
            </a:pPr>
            <a:r>
              <a:rPr b="1" lang="iw-IL" sz="1800">
                <a:solidFill>
                  <a:srgbClr val="000000"/>
                </a:solidFill>
                <a:latin typeface="Arial"/>
                <a:ea typeface="Arial"/>
                <a:cs typeface="Arial"/>
                <a:sym typeface="Arial"/>
              </a:rPr>
              <a:t>אז איך אנחנו מתחברים ?</a:t>
            </a:r>
            <a:endParaRPr/>
          </a:p>
          <a:p>
            <a:pPr indent="0" lvl="0" marL="0" marR="0" rtl="1" algn="r">
              <a:spcBef>
                <a:spcPts val="0"/>
              </a:spcBef>
              <a:spcAft>
                <a:spcPts val="0"/>
              </a:spcAft>
              <a:buNone/>
            </a:pPr>
            <a:r>
              <a:rPr lang="iw-IL" sz="1800">
                <a:solidFill>
                  <a:srgbClr val="000000"/>
                </a:solidFill>
                <a:latin typeface="Arial"/>
                <a:ea typeface="Arial"/>
                <a:cs typeface="Arial"/>
                <a:sym typeface="Arial"/>
              </a:rPr>
              <a:t>ניתן להוריד את התוכנה מכל אתר באינטרנט אך עדיף תמיד להוריד מאתר היצרן על מנת למנוע בעיות תאימות וכדי להוריד את הגרסה העדכנית ביותר של תוכנה זו. </a:t>
            </a:r>
            <a:endParaRPr/>
          </a:p>
          <a:p>
            <a:pPr indent="0" lvl="0" marL="0" marR="0" rtl="1" algn="r">
              <a:spcBef>
                <a:spcPts val="0"/>
              </a:spcBef>
              <a:spcAft>
                <a:spcPts val="0"/>
              </a:spcAft>
              <a:buNone/>
            </a:pPr>
            <a:r>
              <a:t/>
            </a:r>
            <a:endParaRPr sz="1800">
              <a:solidFill>
                <a:srgbClr val="000000"/>
              </a:solidFill>
              <a:latin typeface="Arial"/>
              <a:ea typeface="Arial"/>
              <a:cs typeface="Arial"/>
              <a:sym typeface="Arial"/>
            </a:endParaRPr>
          </a:p>
          <a:p>
            <a:pPr indent="0" lvl="0" marL="0" marR="0" rtl="1" algn="r">
              <a:spcBef>
                <a:spcPts val="0"/>
              </a:spcBef>
              <a:spcAft>
                <a:spcPts val="0"/>
              </a:spcAft>
              <a:buNone/>
            </a:pPr>
            <a:r>
              <a:rPr lang="iw-IL" sz="1800">
                <a:solidFill>
                  <a:srgbClr val="000000"/>
                </a:solidFill>
                <a:latin typeface="Arial"/>
                <a:ea typeface="Arial"/>
                <a:cs typeface="Arial"/>
                <a:sym typeface="Arial"/>
              </a:rPr>
              <a:t>ניתן להוריד את התוכנה בקישור ישיר : </a:t>
            </a:r>
            <a:r>
              <a:rPr lang="iw-IL" sz="1800" u="sng">
                <a:solidFill>
                  <a:srgbClr val="000000"/>
                </a:solidFill>
                <a:latin typeface="Arial"/>
                <a:ea typeface="Arial"/>
                <a:cs typeface="Arial"/>
                <a:sym typeface="Arial"/>
                <a:hlinkClick r:id="rId3">
                  <a:extLst>
                    <a:ext uri="{A12FA001-AC4F-418D-AE19-62706E023703}">
                      <ahyp:hlinkClr val="tx"/>
                    </a:ext>
                  </a:extLst>
                </a:hlinkClick>
              </a:rPr>
              <a:t>https://mt.lv/winbox64</a:t>
            </a:r>
            <a:endParaRPr sz="1800">
              <a:solidFill>
                <a:srgbClr val="000000"/>
              </a:solidFill>
              <a:latin typeface="Arial"/>
              <a:ea typeface="Arial"/>
              <a:cs typeface="Arial"/>
              <a:sym typeface="Arial"/>
            </a:endParaRPr>
          </a:p>
          <a:p>
            <a:pPr indent="0" lvl="0" marL="0" marR="0" rtl="1" algn="r">
              <a:spcBef>
                <a:spcPts val="0"/>
              </a:spcBef>
              <a:spcAft>
                <a:spcPts val="0"/>
              </a:spcAft>
              <a:buNone/>
            </a:pPr>
            <a:r>
              <a:t/>
            </a:r>
            <a:endParaRPr sz="1800">
              <a:solidFill>
                <a:srgbClr val="000000"/>
              </a:solidFill>
              <a:latin typeface="Arial"/>
              <a:ea typeface="Arial"/>
              <a:cs typeface="Arial"/>
              <a:sym typeface="Arial"/>
            </a:endParaRPr>
          </a:p>
          <a:p>
            <a:pPr indent="0" lvl="0" marL="0" marR="0" rtl="1" algn="r">
              <a:spcBef>
                <a:spcPts val="0"/>
              </a:spcBef>
              <a:spcAft>
                <a:spcPts val="0"/>
              </a:spcAft>
              <a:buNone/>
            </a:pPr>
            <a:r>
              <a:rPr lang="iw-IL" sz="1800">
                <a:solidFill>
                  <a:srgbClr val="000000"/>
                </a:solidFill>
                <a:latin typeface="Arial"/>
                <a:ea typeface="Arial"/>
                <a:cs typeface="Arial"/>
                <a:sym typeface="Arial"/>
              </a:rPr>
              <a:t>לאחר שהורדנו את הקובץ, אנו נפעיל אותו ונכניס את פרטי ההתחברות בהתאם לאפיון הלקוח ולאחר מכן נלחץ על </a:t>
            </a:r>
            <a:r>
              <a:rPr b="1" lang="iw-IL" sz="1800">
                <a:solidFill>
                  <a:srgbClr val="000000"/>
                </a:solidFill>
                <a:latin typeface="Arial"/>
                <a:ea typeface="Arial"/>
                <a:cs typeface="Arial"/>
                <a:sym typeface="Arial"/>
              </a:rPr>
              <a:t>Connect</a:t>
            </a:r>
            <a:r>
              <a:rPr lang="iw-IL" sz="1800">
                <a:solidFill>
                  <a:srgbClr val="000000"/>
                </a:solidFill>
                <a:latin typeface="Arial"/>
                <a:ea typeface="Arial"/>
                <a:cs typeface="Arial"/>
                <a:sym typeface="Arial"/>
              </a:rPr>
              <a:t>:</a:t>
            </a:r>
            <a:endParaRPr/>
          </a:p>
          <a:p>
            <a:pPr indent="0" lvl="0" marL="0" marR="0" rtl="1" algn="r">
              <a:spcBef>
                <a:spcPts val="0"/>
              </a:spcBef>
              <a:spcAft>
                <a:spcPts val="0"/>
              </a:spcAft>
              <a:buNone/>
            </a:pPr>
            <a:r>
              <a:t/>
            </a:r>
            <a:endParaRPr sz="1800">
              <a:solidFill>
                <a:srgbClr val="000000"/>
              </a:solidFill>
              <a:latin typeface="Arial"/>
              <a:ea typeface="Arial"/>
              <a:cs typeface="Arial"/>
              <a:sym typeface="Arial"/>
            </a:endParaRPr>
          </a:p>
          <a:p>
            <a:pPr indent="0" lvl="0" marL="0" marR="0" rtl="1" algn="r">
              <a:spcBef>
                <a:spcPts val="0"/>
              </a:spcBef>
              <a:spcAft>
                <a:spcPts val="0"/>
              </a:spcAft>
              <a:buNone/>
            </a:pPr>
            <a:r>
              <a:t/>
            </a:r>
            <a:endParaRPr sz="1800">
              <a:solidFill>
                <a:srgbClr val="000000"/>
              </a:solidFill>
              <a:latin typeface="Arial"/>
              <a:ea typeface="Arial"/>
              <a:cs typeface="Arial"/>
              <a:sym typeface="Arial"/>
            </a:endParaRPr>
          </a:p>
          <a:p>
            <a:pPr indent="0" lvl="0" marL="0" marR="0" rtl="1" algn="r">
              <a:spcBef>
                <a:spcPts val="0"/>
              </a:spcBef>
              <a:spcAft>
                <a:spcPts val="0"/>
              </a:spcAft>
              <a:buNone/>
            </a:pPr>
            <a:r>
              <a:t/>
            </a:r>
            <a:endParaRPr sz="1800">
              <a:solidFill>
                <a:schemeClr val="dk1"/>
              </a:solidFill>
              <a:latin typeface="Calibri"/>
              <a:ea typeface="Calibri"/>
              <a:cs typeface="Calibri"/>
              <a:sym typeface="Calibri"/>
            </a:endParaRPr>
          </a:p>
        </p:txBody>
      </p:sp>
      <p:pic>
        <p:nvPicPr>
          <p:cNvPr id="132" name="Google Shape;132;p8"/>
          <p:cNvPicPr preferRelativeResize="0"/>
          <p:nvPr/>
        </p:nvPicPr>
        <p:blipFill rotWithShape="1">
          <a:blip r:embed="rId4">
            <a:alphaModFix/>
          </a:blip>
          <a:srcRect b="0" l="0" r="0" t="0"/>
          <a:stretch/>
        </p:blipFill>
        <p:spPr>
          <a:xfrm>
            <a:off x="2017027" y="4328719"/>
            <a:ext cx="5438937" cy="2125299"/>
          </a:xfrm>
          <a:prstGeom prst="rect">
            <a:avLst/>
          </a:prstGeom>
          <a:noFill/>
          <a:ln>
            <a:noFill/>
          </a:ln>
        </p:spPr>
      </p:pic>
      <p:sp>
        <p:nvSpPr>
          <p:cNvPr id="133" name="Google Shape;133;p8"/>
          <p:cNvSpPr txBox="1"/>
          <p:nvPr/>
        </p:nvSpPr>
        <p:spPr>
          <a:xfrm>
            <a:off x="8244575" y="4915949"/>
            <a:ext cx="23791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w-IL" sz="1800">
                <a:solidFill>
                  <a:schemeClr val="dk1"/>
                </a:solidFill>
                <a:highlight>
                  <a:srgbClr val="FFFF00"/>
                </a:highlight>
                <a:latin typeface="Calibri"/>
                <a:ea typeface="Calibri"/>
                <a:cs typeface="Calibri"/>
                <a:sym typeface="Calibri"/>
              </a:rPr>
              <a:t>כתובת חיצונית של הנתב</a:t>
            </a:r>
            <a:endParaRPr/>
          </a:p>
        </p:txBody>
      </p:sp>
      <p:sp>
        <p:nvSpPr>
          <p:cNvPr id="134" name="Google Shape;134;p8"/>
          <p:cNvSpPr txBox="1"/>
          <p:nvPr/>
        </p:nvSpPr>
        <p:spPr>
          <a:xfrm>
            <a:off x="8685400" y="5206702"/>
            <a:ext cx="12955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w-IL" sz="1800">
                <a:solidFill>
                  <a:schemeClr val="dk1"/>
                </a:solidFill>
                <a:highlight>
                  <a:srgbClr val="FFFF00"/>
                </a:highlight>
                <a:latin typeface="Calibri"/>
                <a:ea typeface="Calibri"/>
                <a:cs typeface="Calibri"/>
                <a:sym typeface="Calibri"/>
              </a:rPr>
              <a:t>שם משתמש</a:t>
            </a:r>
            <a:endParaRPr/>
          </a:p>
        </p:txBody>
      </p:sp>
      <p:sp>
        <p:nvSpPr>
          <p:cNvPr id="135" name="Google Shape;135;p8"/>
          <p:cNvSpPr txBox="1"/>
          <p:nvPr/>
        </p:nvSpPr>
        <p:spPr>
          <a:xfrm>
            <a:off x="8939475" y="5511588"/>
            <a:ext cx="7873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w-IL" sz="1800">
                <a:solidFill>
                  <a:schemeClr val="dk1"/>
                </a:solidFill>
                <a:highlight>
                  <a:srgbClr val="FFFF00"/>
                </a:highlight>
                <a:latin typeface="Calibri"/>
                <a:ea typeface="Calibri"/>
                <a:cs typeface="Calibri"/>
                <a:sym typeface="Calibri"/>
              </a:rPr>
              <a:t>סיסמה</a:t>
            </a:r>
            <a:endParaRPr/>
          </a:p>
        </p:txBody>
      </p:sp>
      <p:sp>
        <p:nvSpPr>
          <p:cNvPr id="136" name="Google Shape;136;p8"/>
          <p:cNvSpPr/>
          <p:nvPr/>
        </p:nvSpPr>
        <p:spPr>
          <a:xfrm rot="10800000">
            <a:off x="5872293" y="5010695"/>
            <a:ext cx="2096147" cy="245635"/>
          </a:xfrm>
          <a:prstGeom prst="rightArrow">
            <a:avLst>
              <a:gd fmla="val 50000" name="adj1"/>
              <a:gd fmla="val 50000" name="adj2"/>
            </a:avLst>
          </a:prstGeom>
          <a:solidFill>
            <a:schemeClr val="lt2"/>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8"/>
          <p:cNvSpPr/>
          <p:nvPr/>
        </p:nvSpPr>
        <p:spPr>
          <a:xfrm rot="10800000">
            <a:off x="5872292" y="5275191"/>
            <a:ext cx="2096148" cy="245635"/>
          </a:xfrm>
          <a:prstGeom prst="rightArrow">
            <a:avLst>
              <a:gd fmla="val 50000" name="adj1"/>
              <a:gd fmla="val 50000" name="adj2"/>
            </a:avLst>
          </a:prstGeom>
          <a:solidFill>
            <a:schemeClr val="lt2"/>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8"/>
          <p:cNvSpPr/>
          <p:nvPr/>
        </p:nvSpPr>
        <p:spPr>
          <a:xfrm rot="10800000">
            <a:off x="5881178" y="5539687"/>
            <a:ext cx="2096149" cy="245635"/>
          </a:xfrm>
          <a:prstGeom prst="rightArrow">
            <a:avLst>
              <a:gd fmla="val 50000" name="adj1"/>
              <a:gd fmla="val 50000" name="adj2"/>
            </a:avLst>
          </a:prstGeom>
          <a:solidFill>
            <a:schemeClr val="lt2"/>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2021-10-24T06:26:03Z</dcterms:created>
  <dc:creator>צח אושר</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0x010100E6AB9565F020014D98247F3AAB3F3534</vt:lpwstr>
  </property>
</Properties>
</file>